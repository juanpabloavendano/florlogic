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83" r:id="rId6"/>
    <p:sldId id="277" r:id="rId7"/>
    <p:sldId id="279" r:id="rId8"/>
    <p:sldId id="285" r:id="rId9"/>
    <p:sldId id="280" r:id="rId10"/>
    <p:sldId id="281" r:id="rId11"/>
    <p:sldId id="282" r:id="rId12"/>
    <p:sldId id="286" r:id="rId13"/>
    <p:sldId id="28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665797-267E-593C-CAF1-E677D0C18571}" v="28" dt="2026-02-10T22:06:40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714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tefania Otalvaro Quintero" userId="S::estefania.otalvaro1758@uco.net.co::2aac8633-42af-48cf-bbae-346f6e212468" providerId="AD" clId="Web-{2C665797-267E-593C-CAF1-E677D0C18571}"/>
    <pc:docChg chg="addSld delSld modSld">
      <pc:chgData name="Estefania Otalvaro Quintero" userId="S::estefania.otalvaro1758@uco.net.co::2aac8633-42af-48cf-bbae-346f6e212468" providerId="AD" clId="Web-{2C665797-267E-593C-CAF1-E677D0C18571}" dt="2026-02-10T22:06:40.397" v="26" actId="20577"/>
      <pc:docMkLst>
        <pc:docMk/>
      </pc:docMkLst>
      <pc:sldChg chg="modSp add del">
        <pc:chgData name="Estefania Otalvaro Quintero" userId="S::estefania.otalvaro1758@uco.net.co::2aac8633-42af-48cf-bbae-346f6e212468" providerId="AD" clId="Web-{2C665797-267E-593C-CAF1-E677D0C18571}" dt="2026-02-10T22:06:40.397" v="26" actId="20577"/>
        <pc:sldMkLst>
          <pc:docMk/>
          <pc:sldMk cId="1370177843" sldId="256"/>
        </pc:sldMkLst>
        <pc:spChg chg="mod">
          <ac:chgData name="Estefania Otalvaro Quintero" userId="S::estefania.otalvaro1758@uco.net.co::2aac8633-42af-48cf-bbae-346f6e212468" providerId="AD" clId="Web-{2C665797-267E-593C-CAF1-E677D0C18571}" dt="2026-02-10T22:06:40.397" v="26" actId="20577"/>
          <ac:spMkLst>
            <pc:docMk/>
            <pc:sldMk cId="1370177843" sldId="256"/>
            <ac:spMk id="3" creationId="{9FB690C5-F234-4EAD-941D-3013527615E3}"/>
          </ac:spMkLst>
        </pc:spChg>
      </pc:sldChg>
      <pc:sldChg chg="add del">
        <pc:chgData name="Estefania Otalvaro Quintero" userId="S::estefania.otalvaro1758@uco.net.co::2aac8633-42af-48cf-bbae-346f6e212468" providerId="AD" clId="Web-{2C665797-267E-593C-CAF1-E677D0C18571}" dt="2026-02-10T22:06:24.975" v="15"/>
        <pc:sldMkLst>
          <pc:docMk/>
          <pc:sldMk cId="3916626036" sldId="277"/>
        </pc:sldMkLst>
      </pc:sldChg>
      <pc:sldChg chg="add del">
        <pc:chgData name="Estefania Otalvaro Quintero" userId="S::estefania.otalvaro1758@uco.net.co::2aac8633-42af-48cf-bbae-346f6e212468" providerId="AD" clId="Web-{2C665797-267E-593C-CAF1-E677D0C18571}" dt="2026-02-10T22:06:24.756" v="14"/>
        <pc:sldMkLst>
          <pc:docMk/>
          <pc:sldMk cId="4212688194" sldId="279"/>
        </pc:sldMkLst>
      </pc:sldChg>
      <pc:sldChg chg="add del">
        <pc:chgData name="Estefania Otalvaro Quintero" userId="S::estefania.otalvaro1758@uco.net.co::2aac8633-42af-48cf-bbae-346f6e212468" providerId="AD" clId="Web-{2C665797-267E-593C-CAF1-E677D0C18571}" dt="2026-02-10T22:06:24.256" v="12"/>
        <pc:sldMkLst>
          <pc:docMk/>
          <pc:sldMk cId="3758969933" sldId="280"/>
        </pc:sldMkLst>
      </pc:sldChg>
      <pc:sldChg chg="add del">
        <pc:chgData name="Estefania Otalvaro Quintero" userId="S::estefania.otalvaro1758@uco.net.co::2aac8633-42af-48cf-bbae-346f6e212468" providerId="AD" clId="Web-{2C665797-267E-593C-CAF1-E677D0C18571}" dt="2026-02-10T22:06:24.037" v="11"/>
        <pc:sldMkLst>
          <pc:docMk/>
          <pc:sldMk cId="160158305" sldId="281"/>
        </pc:sldMkLst>
      </pc:sldChg>
      <pc:sldChg chg="add del">
        <pc:chgData name="Estefania Otalvaro Quintero" userId="S::estefania.otalvaro1758@uco.net.co::2aac8633-42af-48cf-bbae-346f6e212468" providerId="AD" clId="Web-{2C665797-267E-593C-CAF1-E677D0C18571}" dt="2026-02-10T22:06:23.834" v="10"/>
        <pc:sldMkLst>
          <pc:docMk/>
          <pc:sldMk cId="664431920" sldId="282"/>
        </pc:sldMkLst>
      </pc:sldChg>
      <pc:sldChg chg="add del">
        <pc:chgData name="Estefania Otalvaro Quintero" userId="S::estefania.otalvaro1758@uco.net.co::2aac8633-42af-48cf-bbae-346f6e212468" providerId="AD" clId="Web-{2C665797-267E-593C-CAF1-E677D0C18571}" dt="2026-02-10T22:06:25.318" v="17"/>
        <pc:sldMkLst>
          <pc:docMk/>
          <pc:sldMk cId="2701921538" sldId="283"/>
        </pc:sldMkLst>
      </pc:sldChg>
      <pc:sldChg chg="add del">
        <pc:chgData name="Estefania Otalvaro Quintero" userId="S::estefania.otalvaro1758@uco.net.co::2aac8633-42af-48cf-bbae-346f6e212468" providerId="AD" clId="Web-{2C665797-267E-593C-CAF1-E677D0C18571}" dt="2026-02-10T22:06:24.443" v="13"/>
        <pc:sldMkLst>
          <pc:docMk/>
          <pc:sldMk cId="1670637642" sldId="285"/>
        </pc:sldMkLst>
      </pc:sldChg>
      <pc:sldChg chg="add del">
        <pc:chgData name="Estefania Otalvaro Quintero" userId="S::estefania.otalvaro1758@uco.net.co::2aac8633-42af-48cf-bbae-346f6e212468" providerId="AD" clId="Web-{2C665797-267E-593C-CAF1-E677D0C18571}" dt="2026-02-10T22:06:23.615" v="9"/>
        <pc:sldMkLst>
          <pc:docMk/>
          <pc:sldMk cId="4032862492" sldId="28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B69A-D021-4BFD-8A54-5847922CC2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58AAF-1F71-419C-B2A9-DD2FBECA99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3486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B69A-D021-4BFD-8A54-5847922CC2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58AAF-1F71-419C-B2A9-DD2FBECA99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291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B69A-D021-4BFD-8A54-5847922CC2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58AAF-1F71-419C-B2A9-DD2FBECA99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5537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B69A-D021-4BFD-8A54-5847922CC2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58AAF-1F71-419C-B2A9-DD2FBECA99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629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B69A-D021-4BFD-8A54-5847922CC2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58AAF-1F71-419C-B2A9-DD2FBECA99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4274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B69A-D021-4BFD-8A54-5847922CC2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58AAF-1F71-419C-B2A9-DD2FBECA99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3362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B69A-D021-4BFD-8A54-5847922CC2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58AAF-1F71-419C-B2A9-DD2FBECA99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977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B69A-D021-4BFD-8A54-5847922CC2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58AAF-1F71-419C-B2A9-DD2FBECA99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0396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B69A-D021-4BFD-8A54-5847922CC2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58AAF-1F71-419C-B2A9-DD2FBECA99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19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B69A-D021-4BFD-8A54-5847922CC2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58AAF-1F71-419C-B2A9-DD2FBECA99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533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B69A-D021-4BFD-8A54-5847922CC2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58AAF-1F71-419C-B2A9-DD2FBECA9957}" type="slidenum">
              <a:rPr lang="es-CO" smtClean="0"/>
              <a:t>‹Nº›</a:t>
            </a:fld>
            <a:endParaRPr lang="es-CO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4700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B69A-D021-4BFD-8A54-5847922CC2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58AAF-1F71-419C-B2A9-DD2FBECA99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0334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B69A-D021-4BFD-8A54-5847922CC2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58AAF-1F71-419C-B2A9-DD2FBECA9957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719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B69A-D021-4BFD-8A54-5847922CC2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58AAF-1F71-419C-B2A9-DD2FBECA99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2600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B69A-D021-4BFD-8A54-5847922CC2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58AAF-1F71-419C-B2A9-DD2FBECA99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700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B69A-D021-4BFD-8A54-5847922CC2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58AAF-1F71-419C-B2A9-DD2FBECA99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480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EB69A-D021-4BFD-8A54-5847922CC2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3E58AAF-1F71-419C-B2A9-DD2FBECA99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859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2B970-207E-4212-BD05-A91F69BAB2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Proyecto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B690C5-F234-4EAD-941D-3013527615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Captura offline en el cultivo, decisiones de floricultura en minutos. Elevator Pitch — Ingeniería del Software II</a:t>
            </a:r>
          </a:p>
        </p:txBody>
      </p:sp>
    </p:spTree>
    <p:extLst>
      <p:ext uri="{BB962C8B-B14F-4D97-AF65-F5344CB8AC3E}">
        <p14:creationId xmlns:p14="http://schemas.microsoft.com/office/powerpoint/2010/main" val="1370177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2B970-207E-4212-BD05-A91F69BAB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65018"/>
          </a:xfrm>
        </p:spPr>
        <p:txBody>
          <a:bodyPr>
            <a:normAutofit fontScale="90000"/>
          </a:bodyPr>
          <a:lstStyle/>
          <a:p>
            <a:r>
              <a:rPr lang="es-CO" dirty="0"/>
              <a:t>¿Cuál es el mapa de impacto del producto?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B690C5-F234-4EAD-941D-30135276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537855"/>
            <a:ext cx="8596668" cy="4503507"/>
          </a:xfrm>
        </p:spPr>
        <p:txBody>
          <a:bodyPr>
            <a:normAutofit/>
          </a:bodyPr>
          <a:lstStyle/>
          <a:p>
            <a:r>
              <a:rPr lang="es-CO" b="1" dirty="0"/>
              <a:t>Cliente objetivo: </a:t>
            </a:r>
            <a:r>
              <a:rPr lang="es-CO" dirty="0"/>
              <a:t>Floristerías y cultivos de flores pequeños y medianos en Colombia, con conectividad irregular en el punto de cultivo.</a:t>
            </a:r>
          </a:p>
          <a:p>
            <a:r>
              <a:rPr lang="es-CO" b="1" dirty="0"/>
              <a:t>Necesidad real: </a:t>
            </a:r>
            <a:r>
              <a:rPr lang="es-CO" dirty="0"/>
              <a:t>Capturar en campo, rápido y sin internet, los datos de siembra, plagas y cosecha, y tenerlos consolidados para decidir en minutos.</a:t>
            </a:r>
          </a:p>
          <a:p>
            <a:r>
              <a:rPr lang="es-CO" b="1" dirty="0"/>
              <a:t>Producto: </a:t>
            </a:r>
            <a:r>
              <a:rPr lang="es-CO" dirty="0"/>
              <a:t>FlorLogic — app móvil con agente de IA para captura conversacional offline, panel web de analítica y canal de alertas por WhatsApp.</a:t>
            </a:r>
          </a:p>
          <a:p>
            <a:r>
              <a:rPr lang="es-CO" b="1" dirty="0"/>
              <a:t>Beneficio principal: </a:t>
            </a:r>
            <a:r>
              <a:rPr lang="es-CO" dirty="0"/>
              <a:t>De días a minutos en la disponibilidad del dato, sin errores de transcripción y sin comprar hardware nuevo.</a:t>
            </a:r>
          </a:p>
          <a:p>
            <a:r>
              <a:rPr lang="es-CO" b="1" dirty="0"/>
              <a:t>Competencia actual: </a:t>
            </a:r>
            <a:r>
              <a:rPr lang="es-CO" dirty="0"/>
              <a:t>Tend, FlorNet.co y Mprise Agriware (ERP sobre Microsoft Dynamics 365); la mayoría de PyMEs aún usa papel y Excel.</a:t>
            </a:r>
          </a:p>
          <a:p>
            <a:r>
              <a:rPr lang="es-CO" b="1" dirty="0"/>
              <a:t>Diferenciación: </a:t>
            </a:r>
            <a:r>
              <a:rPr lang="es-CO" dirty="0"/>
              <a:t>Somos los únicos 100% offline-first desde el punto de captura en campo, con IA conversacional en celulares económicos.</a:t>
            </a:r>
          </a:p>
        </p:txBody>
      </p:sp>
    </p:spTree>
    <p:extLst>
      <p:ext uri="{BB962C8B-B14F-4D97-AF65-F5344CB8AC3E}">
        <p14:creationId xmlns:p14="http://schemas.microsoft.com/office/powerpoint/2010/main" val="270192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2B970-207E-4212-BD05-A91F69BAB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65018"/>
          </a:xfrm>
        </p:spPr>
        <p:txBody>
          <a:bodyPr>
            <a:normAutofit fontScale="90000"/>
          </a:bodyPr>
          <a:lstStyle/>
          <a:p>
            <a:r>
              <a:rPr lang="es-CO" dirty="0"/>
              <a:t>¿Cuáles son los retos del proyecto?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B690C5-F234-4EAD-941D-30135276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537855"/>
            <a:ext cx="8596668" cy="4503507"/>
          </a:xfrm>
        </p:spPr>
        <p:txBody>
          <a:bodyPr>
            <a:normAutofit/>
          </a:bodyPr>
          <a:lstStyle/>
          <a:p>
            <a:r>
              <a:rPr lang="es-CO" b="1" dirty="0"/>
              <a:t>Reto técnico 1 — IA en el dispositivo: </a:t>
            </a:r>
            <a:r>
              <a:rPr lang="es-CO" dirty="0"/>
              <a:t>ejecutar el agente de IA 100% en el dispositivos de gama baja (2-3 GB de RAM).</a:t>
            </a:r>
          </a:p>
          <a:p>
            <a:r>
              <a:rPr lang="es-CO" b="1" dirty="0"/>
              <a:t>Reto técnico 2 — Reglas de negocio offline: </a:t>
            </a:r>
            <a:r>
              <a:rPr lang="es-CO" dirty="0"/>
              <a:t>diseñar un motor de reglas agronómicas offline que no entre en conflicto con el backend al sincronizar.</a:t>
            </a:r>
          </a:p>
          <a:p>
            <a:r>
              <a:rPr lang="es-CO" b="1" dirty="0"/>
              <a:t>Reto técnico 3 — Sincronización: </a:t>
            </a:r>
            <a:r>
              <a:rPr lang="es-CO" dirty="0"/>
              <a:t>sincronización diferida robusta ante conexiones intermitentes, sin duplicar ni perder registros.</a:t>
            </a:r>
          </a:p>
          <a:p>
            <a:r>
              <a:rPr lang="es-CO" b="1" dirty="0"/>
              <a:t>Reto de aprendizaje: </a:t>
            </a:r>
            <a:r>
              <a:rPr lang="es-CO" dirty="0"/>
              <a:t>dominar modelos de lenguaje ligero (SLM), voz a texto en español rural y edge computing con un equipo de 2 desarrolladores.</a:t>
            </a:r>
          </a:p>
          <a:p>
            <a:r>
              <a:rPr lang="es-CO" b="1" dirty="0"/>
              <a:t>Reto de alcance: </a:t>
            </a:r>
            <a:r>
              <a:rPr lang="es-CO" dirty="0"/>
              <a:t>cumplir el alcance del módulo de producción en 6 a 12 meses sin desviarnos hacia funcionalidades de un ERP completo.</a:t>
            </a:r>
          </a:p>
          <a:p>
            <a:r>
              <a:rPr lang="es-CO" b="1" dirty="0"/>
              <a:t>Reto personal: </a:t>
            </a:r>
            <a:r>
              <a:rPr lang="es-CO" dirty="0"/>
              <a:t>coordinar app móvil, backend y panel web con recursos limitados, y validar continuamente con la finca real sin perder el foco académico.</a:t>
            </a:r>
          </a:p>
        </p:txBody>
      </p:sp>
    </p:spTree>
    <p:extLst>
      <p:ext uri="{BB962C8B-B14F-4D97-AF65-F5344CB8AC3E}">
        <p14:creationId xmlns:p14="http://schemas.microsoft.com/office/powerpoint/2010/main" val="3916626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2B970-207E-4212-BD05-A91F69BAB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659361" cy="665018"/>
          </a:xfrm>
        </p:spPr>
        <p:txBody>
          <a:bodyPr>
            <a:normAutofit fontScale="90000"/>
          </a:bodyPr>
          <a:lstStyle/>
          <a:p>
            <a:r>
              <a:rPr lang="es-CO" dirty="0"/>
              <a:t>¿Cuáles son las principales funcionalidades que tendrá el producto?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B690C5-F234-4EAD-941D-30135276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537855"/>
            <a:ext cx="8596668" cy="4503507"/>
          </a:xfrm>
        </p:spPr>
        <p:txBody>
          <a:bodyPr>
            <a:normAutofit/>
          </a:bodyPr>
          <a:lstStyle/>
          <a:p>
            <a:r>
              <a:rPr lang="es-CO" b="1" dirty="0"/>
              <a:t>Idea central: </a:t>
            </a:r>
            <a:r>
              <a:rPr lang="es-CO" dirty="0"/>
              <a:t>primero recolectar rápido y offline en el cultivo, y después mediar e inspeccionar esa información en línea.</a:t>
            </a:r>
          </a:p>
          <a:p>
            <a:r>
              <a:rPr lang="es-CO" b="1" dirty="0"/>
              <a:t>Captura conversacional offline: </a:t>
            </a:r>
            <a:r>
              <a:rPr lang="es-CO" dirty="0"/>
              <a:t>voz o texto → registro estructurado (JSON), sin internet, en el punto de cultivo.</a:t>
            </a:r>
          </a:p>
          <a:p>
            <a:r>
              <a:rPr lang="es-CO" b="1" dirty="0"/>
              <a:t>Validación local (edge validation): </a:t>
            </a:r>
            <a:r>
              <a:rPr lang="es-CO" dirty="0"/>
              <a:t>el sistema valida al instante que el registro cumpla las reglas agronómicas de la finca antes de guardarlo.</a:t>
            </a:r>
          </a:p>
          <a:p>
            <a:r>
              <a:rPr lang="es-CO" b="1" dirty="0"/>
              <a:t>Cola de sincronización diferida: </a:t>
            </a:r>
            <a:r>
              <a:rPr lang="es-CO" dirty="0"/>
              <a:t>los registros quedan en el dispositivo y se envían automáticamente al detectar red 4G/Wi-Fi.</a:t>
            </a:r>
          </a:p>
          <a:p>
            <a:r>
              <a:rPr lang="es-CO" b="1" dirty="0"/>
              <a:t>Mediación e inspección online: </a:t>
            </a:r>
            <a:r>
              <a:rPr lang="es-CO" dirty="0"/>
              <a:t>agrónomos y gerencia revisan, corrigen y analizan los datos ya sincronizados desde el panel web.</a:t>
            </a:r>
          </a:p>
          <a:p>
            <a:r>
              <a:rPr lang="es-CO" b="1" dirty="0"/>
              <a:t>Alertas por WhatsApp: </a:t>
            </a:r>
            <a:r>
              <a:rPr lang="es-CO" dirty="0"/>
              <a:t>notificaciones críticas y consultas rápidas en lenguaje natural para la gerencia cuando hay conexión.</a:t>
            </a:r>
          </a:p>
        </p:txBody>
      </p:sp>
    </p:spTree>
    <p:extLst>
      <p:ext uri="{BB962C8B-B14F-4D97-AF65-F5344CB8AC3E}">
        <p14:creationId xmlns:p14="http://schemas.microsoft.com/office/powerpoint/2010/main" val="4212688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2B970-207E-4212-BD05-A91F69BAB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659361" cy="665018"/>
          </a:xfrm>
        </p:spPr>
        <p:txBody>
          <a:bodyPr>
            <a:normAutofit fontScale="90000"/>
          </a:bodyPr>
          <a:lstStyle/>
          <a:p>
            <a:r>
              <a:rPr lang="es-CO" dirty="0"/>
              <a:t>¿Qué tipo de producto se construirá?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B690C5-F234-4EAD-941D-30135276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537855"/>
            <a:ext cx="8596668" cy="4503507"/>
          </a:xfrm>
        </p:spPr>
        <p:txBody>
          <a:bodyPr>
            <a:normAutofit/>
          </a:bodyPr>
          <a:lstStyle/>
          <a:p>
            <a:r>
              <a:rPr lang="es-CO" b="1" dirty="0"/>
              <a:t>Producto: </a:t>
            </a:r>
            <a:r>
              <a:rPr lang="es-CO" dirty="0"/>
              <a:t>una aplicación móvil (Android) como eje principal de la solución.</a:t>
            </a:r>
          </a:p>
          <a:p>
            <a:r>
              <a:rPr lang="es-CO" b="1" dirty="0"/>
              <a:t>Con: </a:t>
            </a:r>
            <a:r>
              <a:rPr lang="es-CO" dirty="0"/>
              <a:t>un agente de inteligencia artificial embebido, que conversa con el trabajador de campo.</a:t>
            </a:r>
          </a:p>
          <a:p>
            <a:r>
              <a:rPr lang="es-CO" b="1" dirty="0"/>
              <a:t>Apoyada en: </a:t>
            </a:r>
            <a:r>
              <a:rPr lang="es-CO" dirty="0"/>
              <a:t>pequeños servicios de comunicación con ese agente, cuyo diseño detallado se definirá en la fase de producción.</a:t>
            </a:r>
          </a:p>
          <a:p>
            <a:r>
              <a:rPr lang="es-CO" b="1" dirty="0"/>
              <a:t>Más: </a:t>
            </a:r>
            <a:r>
              <a:rPr lang="es-CO" dirty="0"/>
              <a:t>un panel web de ingresos de datos adicionales, gestión y analítica, complementario a la app. </a:t>
            </a:r>
          </a:p>
          <a:p>
            <a:r>
              <a:rPr lang="es-CO" b="1" dirty="0"/>
              <a:t>Con:</a:t>
            </a:r>
            <a:r>
              <a:rPr lang="es-CO" dirty="0"/>
              <a:t> reportes automáticos mediante </a:t>
            </a:r>
            <a:r>
              <a:rPr lang="es-CO" dirty="0" err="1"/>
              <a:t>power</a:t>
            </a:r>
            <a:r>
              <a:rPr lang="es-CO" dirty="0"/>
              <a:t> BI u otra herramienta BI para la fácil manipulación y visualización de los datos</a:t>
            </a:r>
          </a:p>
          <a:p>
            <a:r>
              <a:rPr lang="es-CO" b="1" dirty="0"/>
              <a:t>Y: </a:t>
            </a:r>
            <a:r>
              <a:rPr lang="es-CO" dirty="0"/>
              <a:t>un canal adicional de notificaciones y consultas vía WhatsApp.</a:t>
            </a:r>
          </a:p>
          <a:p>
            <a:r>
              <a:rPr lang="es-CO" b="1" dirty="0"/>
              <a:t>En resumen, es una combinación: </a:t>
            </a:r>
            <a:r>
              <a:rPr lang="es-CO" dirty="0"/>
              <a:t>app móvil + agente de IA + servicios de backend + panel web, sin componente de escritorio.</a:t>
            </a:r>
          </a:p>
        </p:txBody>
      </p:sp>
    </p:spTree>
    <p:extLst>
      <p:ext uri="{BB962C8B-B14F-4D97-AF65-F5344CB8AC3E}">
        <p14:creationId xmlns:p14="http://schemas.microsoft.com/office/powerpoint/2010/main" val="1670637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2B970-207E-4212-BD05-A91F69BAB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659361" cy="665018"/>
          </a:xfrm>
        </p:spPr>
        <p:txBody>
          <a:bodyPr>
            <a:normAutofit fontScale="90000"/>
          </a:bodyPr>
          <a:lstStyle/>
          <a:p>
            <a:r>
              <a:rPr lang="es-CO" dirty="0"/>
              <a:t>¿Existen condiciones o restricciones técnicas especiales?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B690C5-F234-4EAD-941D-30135276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537855"/>
            <a:ext cx="8596668" cy="4503507"/>
          </a:xfrm>
        </p:spPr>
        <p:txBody>
          <a:bodyPr>
            <a:normAutofit/>
          </a:bodyPr>
          <a:lstStyle/>
          <a:p>
            <a:r>
              <a:rPr lang="es-CO" b="1" dirty="0"/>
              <a:t>Brecha tecnológica del sector floricultor colombiano: </a:t>
            </a:r>
            <a:r>
              <a:rPr lang="es-CO" dirty="0"/>
              <a:t>predominan celulares Android de gama baja o media (2-3 GB de RAM) entre el personal de campo.</a:t>
            </a:r>
          </a:p>
          <a:p>
            <a:r>
              <a:rPr lang="es-CO" b="1" dirty="0"/>
              <a:t>Conectividad: </a:t>
            </a:r>
            <a:r>
              <a:rPr lang="es-CO" dirty="0"/>
              <a:t>la señal de datos es irregular o inexistente dentro de invernaderos y bloques de cultivo.</a:t>
            </a:r>
          </a:p>
          <a:p>
            <a:r>
              <a:rPr lang="es-CO" b="1" dirty="0"/>
              <a:t>Consecuencia de diseño: </a:t>
            </a:r>
            <a:r>
              <a:rPr lang="es-CO" dirty="0"/>
              <a:t>por eso el desarrollo debe ser offline-first / edge computing real, no un simple “modo sin conexión” superficial.</a:t>
            </a:r>
          </a:p>
          <a:p>
            <a:r>
              <a:rPr lang="es-CO" b="1" dirty="0"/>
              <a:t>Requisito de plataforma: </a:t>
            </a:r>
            <a:r>
              <a:rPr lang="es-CO" dirty="0"/>
              <a:t>se requiere un modelo de lenguaje (SLM) cuantizado y procesamiento de voz eficiente, corriendo en el propio dispositivo.</a:t>
            </a:r>
          </a:p>
          <a:p>
            <a:r>
              <a:rPr lang="es-CO" b="1" dirty="0"/>
              <a:t>Lectura de negocio: </a:t>
            </a:r>
            <a:r>
              <a:rPr lang="es-CO" dirty="0"/>
              <a:t>esta misma limitación técnica es, al mismo tiempo, nuestro principal diferenciador de mercado.</a:t>
            </a:r>
          </a:p>
        </p:txBody>
      </p:sp>
    </p:spTree>
    <p:extLst>
      <p:ext uri="{BB962C8B-B14F-4D97-AF65-F5344CB8AC3E}">
        <p14:creationId xmlns:p14="http://schemas.microsoft.com/office/powerpoint/2010/main" val="3758969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2B970-207E-4212-BD05-A91F69BAB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659361" cy="665018"/>
          </a:xfrm>
        </p:spPr>
        <p:txBody>
          <a:bodyPr>
            <a:normAutofit fontScale="90000"/>
          </a:bodyPr>
          <a:lstStyle/>
          <a:p>
            <a:r>
              <a:rPr lang="es-CO" dirty="0"/>
              <a:t>¿Existen condiciones o restricciones de negocio especiales?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B690C5-F234-4EAD-941D-30135276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537855"/>
            <a:ext cx="8596668" cy="4503507"/>
          </a:xfrm>
        </p:spPr>
        <p:txBody>
          <a:bodyPr>
            <a:normAutofit/>
          </a:bodyPr>
          <a:lstStyle/>
          <a:p>
            <a:r>
              <a:rPr lang="es-CO" b="1" dirty="0"/>
              <a:t>Enfoque de precio accesible: </a:t>
            </a:r>
            <a:r>
              <a:rPr lang="es-CO" dirty="0"/>
              <a:t>que PyMEs y cultivos medianos puedan pagarlo, no solo las grandes exportadoras.</a:t>
            </a:r>
          </a:p>
          <a:p>
            <a:r>
              <a:rPr lang="es-CO" b="1" dirty="0"/>
              <a:t>Sin cobros excesivos: </a:t>
            </a:r>
            <a:r>
              <a:rPr lang="es-CO" dirty="0"/>
              <a:t>evitar el esquema de un ERP tradicional, con licencias altas e implementación costosa.</a:t>
            </a:r>
          </a:p>
          <a:p>
            <a:r>
              <a:rPr lang="es-CO" b="1" dirty="0"/>
              <a:t>Reutilización de hardware: </a:t>
            </a:r>
            <a:r>
              <a:rPr lang="es-CO" dirty="0"/>
              <a:t>aprovechar los celulares que el personal de campo ya tiene, en vez de exigir inversión en equipos nuevos.</a:t>
            </a:r>
          </a:p>
          <a:p>
            <a:r>
              <a:rPr lang="es-CO" b="1" dirty="0"/>
              <a:t>Presupuesto y tiempo del proyecto: </a:t>
            </a:r>
            <a:r>
              <a:rPr lang="es-CO" dirty="0"/>
              <a:t>equipo de 2 desarrolladores, de 6 a 12 meses, con el alcance acotado al módulo de producción.</a:t>
            </a:r>
          </a:p>
        </p:txBody>
      </p:sp>
    </p:spTree>
    <p:extLst>
      <p:ext uri="{BB962C8B-B14F-4D97-AF65-F5344CB8AC3E}">
        <p14:creationId xmlns:p14="http://schemas.microsoft.com/office/powerpoint/2010/main" val="160158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2B970-207E-4212-BD05-A91F69BAB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659361" cy="665018"/>
          </a:xfrm>
        </p:spPr>
        <p:txBody>
          <a:bodyPr>
            <a:normAutofit fontScale="90000"/>
          </a:bodyPr>
          <a:lstStyle/>
          <a:p>
            <a:r>
              <a:rPr lang="es-CO" dirty="0"/>
              <a:t>¿Existen otras condiciones o restricciones que se deban tener en cuenta?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B690C5-F234-4EAD-941D-30135276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537855"/>
            <a:ext cx="8596668" cy="4503507"/>
          </a:xfrm>
        </p:spPr>
        <p:txBody>
          <a:bodyPr>
            <a:normAutofit/>
          </a:bodyPr>
          <a:lstStyle/>
          <a:p>
            <a:r>
              <a:rPr lang="es-CO" b="1" dirty="0"/>
              <a:t>Soberanía y privacidad del dato: </a:t>
            </a:r>
            <a:r>
              <a:rPr lang="es-CO" dirty="0"/>
              <a:t>la finca debe poder decidir dónde y cómo se guarda su información histórica de producción.</a:t>
            </a:r>
          </a:p>
          <a:p>
            <a:r>
              <a:rPr lang="es-CO" b="1" dirty="0"/>
              <a:t>Fragmentación de dispositivos: </a:t>
            </a:r>
            <a:r>
              <a:rPr lang="es-CO" dirty="0"/>
              <a:t>distintos fabricantes y versiones de Android exigen pruebas amplias de compatibilidad.</a:t>
            </a:r>
          </a:p>
          <a:p>
            <a:r>
              <a:rPr lang="es-CO" b="1" dirty="0"/>
              <a:t>Variabilidad del habla: </a:t>
            </a:r>
            <a:r>
              <a:rPr lang="es-CO" dirty="0"/>
              <a:t>acentos regionales y terminología agronómica local que el motor de voz a texto debe reconocer bien.</a:t>
            </a:r>
          </a:p>
          <a:p>
            <a:r>
              <a:rPr lang="es-CO" b="1" dirty="0"/>
              <a:t>Estacionalidad de la demanda: </a:t>
            </a:r>
            <a:r>
              <a:rPr lang="es-CO" dirty="0"/>
              <a:t>el sistema debe estar estable antes de picos de producción como San Valentín o el Día de la Madre.</a:t>
            </a:r>
          </a:p>
          <a:p>
            <a:r>
              <a:rPr lang="es-CO" b="1" dirty="0"/>
              <a:t>Adopción del usuario de campo: </a:t>
            </a:r>
            <a:r>
              <a:rPr lang="es-CO" dirty="0"/>
              <a:t>el personal acostumbrado al papel necesita una curva de adopción sencilla para dejar de resistirse al cambio.</a:t>
            </a:r>
          </a:p>
        </p:txBody>
      </p:sp>
    </p:spTree>
    <p:extLst>
      <p:ext uri="{BB962C8B-B14F-4D97-AF65-F5344CB8AC3E}">
        <p14:creationId xmlns:p14="http://schemas.microsoft.com/office/powerpoint/2010/main" val="664431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2B970-207E-4212-BD05-A91F69BAB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659361" cy="665018"/>
          </a:xfrm>
        </p:spPr>
        <p:txBody>
          <a:bodyPr>
            <a:normAutofit fontScale="90000"/>
          </a:bodyPr>
          <a:lstStyle/>
          <a:p>
            <a:r>
              <a:rPr lang="es-CO" dirty="0"/>
              <a:t>¿Se tienen los artefactos fruto del análisis del sistema? Mencione cuáles tiene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B690C5-F234-4EAD-941D-30135276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537855"/>
            <a:ext cx="8596668" cy="4503507"/>
          </a:xfrm>
        </p:spPr>
        <p:txBody>
          <a:bodyPr>
            <a:normAutofit/>
          </a:bodyPr>
          <a:lstStyle/>
          <a:p>
            <a:r>
              <a:rPr lang="es-CO" b="1" dirty="0"/>
              <a:t>Entrevista realizada: </a:t>
            </a:r>
            <a:r>
              <a:rPr lang="es-CO" dirty="0"/>
              <a:t>con Gustavo Montoya, Ingeniero de sistemas y gerente de producción hasta marzo 2025 en los cultivos Buena Vista Flowers S.A.S y Flores Rionegro S.A.</a:t>
            </a:r>
          </a:p>
          <a:p>
            <a:r>
              <a:rPr lang="es-CO" b="1" dirty="0"/>
              <a:t>Plantillas completadas: </a:t>
            </a:r>
            <a:r>
              <a:rPr lang="es-CO" dirty="0"/>
              <a:t>Mapa de Impacto (Why/Who/How/What) y Visión estilo elevator pitch, ya diligenciadas para FlorLogic.</a:t>
            </a:r>
          </a:p>
          <a:p>
            <a:r>
              <a:rPr lang="es-CO" b="1" dirty="0"/>
              <a:t>Acceso a datos reales: </a:t>
            </a:r>
            <a:r>
              <a:rPr lang="es-CO" dirty="0"/>
              <a:t>datos históricos de producción recolectados durante un periodo aún por definir, aportados por la empresa floricultora que solicita esta solución.</a:t>
            </a:r>
          </a:p>
          <a:p>
            <a:r>
              <a:rPr lang="es-CO" b="1" dirty="0"/>
              <a:t>Análisis competitivo preliminar: </a:t>
            </a:r>
            <a:r>
              <a:rPr lang="es-CO" dirty="0"/>
              <a:t>identificación y comparación de Tend, FlorNet.co y Mprise Agriware frente a nuestra propuesta.</a:t>
            </a:r>
          </a:p>
        </p:txBody>
      </p:sp>
    </p:spTree>
    <p:extLst>
      <p:ext uri="{BB962C8B-B14F-4D97-AF65-F5344CB8AC3E}">
        <p14:creationId xmlns:p14="http://schemas.microsoft.com/office/powerpoint/2010/main" val="4032862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2B970-207E-4212-BD05-A91F69BAB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659361" cy="665018"/>
          </a:xfrm>
        </p:spPr>
        <p:txBody>
          <a:bodyPr>
            <a:normAutofit fontScale="90000"/>
          </a:bodyPr>
          <a:lstStyle/>
          <a:p>
            <a:r>
              <a:rPr lang="es-CO" dirty="0"/>
              <a:t>¿Quién más compite y qué nos hace diferentes?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B690C5-F234-4EAD-941D-30135276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537855"/>
            <a:ext cx="8596668" cy="4503507"/>
          </a:xfrm>
        </p:spPr>
        <p:txBody>
          <a:bodyPr>
            <a:normAutofit/>
          </a:bodyPr>
          <a:lstStyle/>
          <a:p>
            <a:r>
              <a:rPr lang="es-CO" b="1" dirty="0"/>
              <a:t>Mprise Agriware: </a:t>
            </a:r>
            <a:r>
              <a:rPr lang="es-CO" dirty="0"/>
              <a:t>ERP internacional sobre Microsoft Dynamics 365; alcance amplio, estructurado y costoso para una PyME.</a:t>
            </a:r>
          </a:p>
          <a:p>
            <a:r>
              <a:rPr lang="es-CO" b="1" dirty="0"/>
              <a:t>FlorNet.co: </a:t>
            </a:r>
            <a:r>
              <a:rPr lang="es-CO" dirty="0"/>
              <a:t>único competidor con función offline, pero limitada a la etapa final de empaque y ventas, no a la captura en el cultivo.</a:t>
            </a:r>
          </a:p>
          <a:p>
            <a:r>
              <a:rPr lang="es-CO" b="1" dirty="0"/>
              <a:t>Tend: </a:t>
            </a:r>
            <a:r>
              <a:rPr lang="es-CO" dirty="0"/>
              <a:t>solución liviana de gestión, sin el enfoque agronómico ni la captura conversacional en campo.</a:t>
            </a:r>
          </a:p>
          <a:p>
            <a:r>
              <a:rPr lang="es-CO" b="1" dirty="0"/>
              <a:t>Papel + Excel: </a:t>
            </a:r>
            <a:r>
              <a:rPr lang="es-CO" dirty="0"/>
              <a:t>sigue siendo el proceso real de la mayoría de PyMEs, con una latencia de 24 a 72 horas y alto costo en errores.</a:t>
            </a:r>
          </a:p>
          <a:p>
            <a:r>
              <a:rPr lang="es-CO" b="1" dirty="0"/>
              <a:t>FlorLogic: </a:t>
            </a:r>
            <a:r>
              <a:rPr lang="es-CO" dirty="0"/>
              <a:t>único enfoque 100% offline-first desde el cultivo, con agente de IA conversacional en celulares económicos, dato disponible en minutos y a una fracción del costo de un ERP.</a:t>
            </a:r>
          </a:p>
        </p:txBody>
      </p:sp>
    </p:spTree>
    <p:extLst>
      <p:ext uri="{BB962C8B-B14F-4D97-AF65-F5344CB8AC3E}">
        <p14:creationId xmlns:p14="http://schemas.microsoft.com/office/powerpoint/2010/main" val="403286249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DED8002B981F47A2AB219162B18A45" ma:contentTypeVersion="0" ma:contentTypeDescription="Crear nuevo documento." ma:contentTypeScope="" ma:versionID="5dfa065d64562109ab25315872dd042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26ff3a126252e742cc2543983a566b0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2EB668-974C-46FB-A57B-0D8C2BFF726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0AC7BF-5E69-4B16-934A-9E3D7EAB156C}">
  <ds:schemaRefs>
    <ds:schemaRef ds:uri="http://schemas.microsoft.com/office/2006/metadata/properties"/>
    <ds:schemaRef ds:uri="http://schemas.microsoft.com/office/infopath/2007/PartnerControls"/>
    <ds:schemaRef ds:uri="d7c3809e-c5e5-4fcd-91d5-d91f055f03c6"/>
    <ds:schemaRef ds:uri="0b4d285e-6e48-4b6f-a96c-892847af302d"/>
  </ds:schemaRefs>
</ds:datastoreItem>
</file>

<file path=customXml/itemProps3.xml><?xml version="1.0" encoding="utf-8"?>
<ds:datastoreItem xmlns:ds="http://schemas.openxmlformats.org/officeDocument/2006/customXml" ds:itemID="{588A4829-EF98-4DD9-A1E2-C7BDD53652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6ebbfa72-b3b6-4c1f-8b23-058d4f67f013}" enabled="1" method="Privileged" siteId="{bf1ce8b5-5d39-4bc5-ad6e-07b3e4d7d67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83</TotalTime>
  <Words>1234</Words>
  <Application>Microsoft Office PowerPoint</Application>
  <PresentationFormat>Panorámica</PresentationFormat>
  <Paragraphs>59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Faceta</vt:lpstr>
      <vt:lpstr>Proyecto</vt:lpstr>
      <vt:lpstr>¿Cuál es el mapa de impacto del producto?</vt:lpstr>
      <vt:lpstr>¿Cuáles son los retos del proyecto?</vt:lpstr>
      <vt:lpstr>¿Cuáles son las principales funcionalidades que tendrá el producto?</vt:lpstr>
      <vt:lpstr>¿Qué tipo de producto se construirá?</vt:lpstr>
      <vt:lpstr>¿Existen condiciones o restricciones técnicas especiales?</vt:lpstr>
      <vt:lpstr>¿Existen condiciones o restricciones de negocio especiales?</vt:lpstr>
      <vt:lpstr>¿Existen otras condiciones o restricciones que se deban tener en cuenta?</vt:lpstr>
      <vt:lpstr>¿Se tienen los artefactos fruto del análisis del sistema? Mencione cuáles tiene</vt:lpstr>
      <vt:lpstr>¿Quién más compite y qué nos hace diferentes?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Retrospectiva Proyecto</dc:title>
  <dc:creator>WIDER FARID SANCHEZ GARZON</dc:creator>
  <cp:lastModifiedBy>jeronimo montoya londoño</cp:lastModifiedBy>
  <cp:revision>41</cp:revision>
  <dcterms:created xsi:type="dcterms:W3CDTF">2017-09-20T21:53:11Z</dcterms:created>
  <dcterms:modified xsi:type="dcterms:W3CDTF">2026-07-29T02:03:00Z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0x01010013DED8002B981F47A2AB219162B18A45</vt:lpwstr>
  </property>
  <property fmtid="{D5CDD505-2E9C-101B-9397-08002B2CF9AE}" pid="3" name="Order">
    <vt:r8>7400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